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e4d891779146bf" /><Relationship Type="http://schemas.openxmlformats.org/officeDocument/2006/relationships/extended-properties" Target="/docProps/app.xml" Id="Ra8aca2bd04c2482c" /><Relationship Type="http://schemas.openxmlformats.org/officeDocument/2006/relationships/officeDocument" Target="/ppt/presentation.xml" Id="R52f40fb585f341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beea9928c64f38"/>
  </p:sldMasterIdLst>
  <p:notesMasterIdLst>
    <p:notesMasterId xmlns:r="http://schemas.openxmlformats.org/officeDocument/2006/relationships" r:id="R49dd45a649c04848"/>
  </p:notesMasterIdLst>
  <p:sldIdLst>
    <p:sldId xmlns:r="http://schemas.openxmlformats.org/officeDocument/2006/relationships" id="256" r:id="Re0b133a6cc7e4e50"/>
    <p:sldId xmlns:r="http://schemas.openxmlformats.org/officeDocument/2006/relationships" id="257" r:id="R12b8a8b430bc4873"/>
    <p:sldId xmlns:r="http://schemas.openxmlformats.org/officeDocument/2006/relationships" id="258" r:id="R60b3781860424302"/>
    <p:sldId xmlns:r="http://schemas.openxmlformats.org/officeDocument/2006/relationships" id="259" r:id="Re8636f97183848e5"/>
    <p:sldId xmlns:r="http://schemas.openxmlformats.org/officeDocument/2006/relationships" id="260" r:id="Rc64bf8c9eba4478b"/>
    <p:sldId xmlns:r="http://schemas.openxmlformats.org/officeDocument/2006/relationships" id="261" r:id="Rdff9df460df347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806230043f4af5" /><Relationship Type="http://schemas.openxmlformats.org/officeDocument/2006/relationships/slideMaster" Target="/ppt/slideMasters/slideMaster1.xml" Id="R18beea9928c64f38" /><Relationship Type="http://schemas.openxmlformats.org/officeDocument/2006/relationships/notesMaster" Target="/ppt/notesMasters/notesMaster1.xml" Id="R49dd45a649c04848" /><Relationship Type="http://schemas.openxmlformats.org/officeDocument/2006/relationships/presProps" Target="/ppt/presProps.xml" Id="R1685deb2abdb4089" /><Relationship Type="http://schemas.openxmlformats.org/officeDocument/2006/relationships/viewProps" Target="/ppt/viewProps.xml" Id="R1cf2da6f96414c14" /><Relationship Type="http://schemas.openxmlformats.org/officeDocument/2006/relationships/tableStyles" Target="/ppt/tableStyles.xml" Id="R58e2d17d2c924cfc" /><Relationship Type="http://schemas.openxmlformats.org/officeDocument/2006/relationships/slide" Target="/ppt/slides/slide1.xml" Id="Re0b133a6cc7e4e50" /><Relationship Type="http://schemas.openxmlformats.org/officeDocument/2006/relationships/slide" Target="/ppt/slides/slide2.xml" Id="R12b8a8b430bc4873" /><Relationship Type="http://schemas.openxmlformats.org/officeDocument/2006/relationships/slide" Target="/ppt/slides/slide3.xml" Id="R60b3781860424302" /><Relationship Type="http://schemas.openxmlformats.org/officeDocument/2006/relationships/slide" Target="/ppt/slides/slide4.xml" Id="Re8636f97183848e5" /><Relationship Type="http://schemas.openxmlformats.org/officeDocument/2006/relationships/slide" Target="/ppt/slides/slide5.xml" Id="Rc64bf8c9eba4478b" /><Relationship Type="http://schemas.openxmlformats.org/officeDocument/2006/relationships/slide" Target="/ppt/slides/slide6.xml" Id="Rdff9df460df347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65e8d8f05a40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01dc4e56234a94" /><Relationship Type="http://schemas.openxmlformats.org/officeDocument/2006/relationships/notesMaster" Target="/ppt/notesMasters/notesMaster1.xml" Id="Rd82c8777a0244e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cf43c7ce344de8" /><Relationship Type="http://schemas.openxmlformats.org/officeDocument/2006/relationships/notesMaster" Target="/ppt/notesMasters/notesMaster1.xml" Id="R60ad53ef548e49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a0b0d90d2e4181" /><Relationship Type="http://schemas.openxmlformats.org/officeDocument/2006/relationships/notesMaster" Target="/ppt/notesMasters/notesMaster1.xml" Id="Rc719e465970542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f008c3460b45c4" /><Relationship Type="http://schemas.openxmlformats.org/officeDocument/2006/relationships/notesMaster" Target="/ppt/notesMasters/notesMaster1.xml" Id="Rbda6c2ff06cf4a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fa72783d5b4df7" /><Relationship Type="http://schemas.openxmlformats.org/officeDocument/2006/relationships/notesMaster" Target="/ppt/notesMasters/notesMaster1.xml" Id="R10c6b14d28504d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56aa66bdc14216" /><Relationship Type="http://schemas.openxmlformats.org/officeDocument/2006/relationships/notesMaster" Target="/ppt/notesMasters/notesMaster1.xml" Id="Rd5d327e33c9f4c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deck asset: 2026-7-22-LiuYining.pptx, slide 1.</a:t>
            </a:r>
          </a:p>
          <a:p xmlns:a="http://schemas.openxmlformats.org/drawingml/2006/main">
            <a:r>
              <a:t>- README.md.</a:t>
            </a:r>
          </a:p>
          <a:p xmlns:a="http://schemas.openxmlformats.org/drawingml/2006/main">
            <a:r>
              <a:t>- results/hpc/v3_hpc_1349625/training_metadata_v3.json.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results/hpc/v3_hpc_1349625/training_metadata_v3.json.</a:t>
            </a:r>
          </a:p>
          <a:p xmlns:a="http://schemas.openxmlformats.org/drawingml/2006/main">
            <a:r>
              <a:t>- results/hpc/v3_hpc_1349625/preflight_report_v3.json.</a:t>
            </a:r>
          </a:p>
          <a:p xmlns:a="http://schemas.openxmlformats.org/drawingml/2006/main">
            <a:r>
              <a:t>- models/mini_vla_v2.py.</a:t>
            </a:r>
          </a:p>
          <a:p xmlns:a="http://schemas.openxmlformats.org/drawingml/2006/main">
            <a:r>
              <a:t>- utils/evaluation_core_v2.py.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results/v2_1/evaluation_clean_v2_1.json.</a:t>
            </a:r>
          </a:p>
          <a:p xmlns:a="http://schemas.openxmlformats.org/drawingml/2006/main">
            <a:r>
              <a:t>- results/v3_tests/clean_comparison/v2_20260714.csv.</a:t>
            </a:r>
          </a:p>
          <a:p xmlns:a="http://schemas.openxmlformats.org/drawingml/2006/main">
            <a:r>
              <a:t>- results/v3_tests/clean_comparison/v2_20261017.csv.</a:t>
            </a:r>
          </a:p>
          <a:p xmlns:a="http://schemas.openxmlformats.org/drawingml/2006/main">
            <a:r>
              <a:t>- results/v3_tests/clean_comparison/v3_20260714.csv.</a:t>
            </a:r>
          </a:p>
          <a:p xmlns:a="http://schemas.openxmlformats.org/drawingml/2006/main">
            <a:r>
              <a:t>- results/v3_tests/clean_comparison/v3_20261017.csv.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scripts/collect_data_v3.py.</a:t>
            </a:r>
          </a:p>
          <a:p xmlns:a="http://schemas.openxmlformats.org/drawingml/2006/main">
            <a:r>
              <a:t>- models/mini_vla_v2.py.</a:t>
            </a:r>
          </a:p>
          <a:p xmlns:a="http://schemas.openxmlformats.org/drawingml/2006/main">
            <a:r>
              <a:t>- utils/evaluation_core_v2.py.</a:t>
            </a:r>
          </a:p>
          <a:p xmlns:a="http://schemas.openxmlformats.org/drawingml/2006/main">
            <a:r>
              <a:t>- utils/v2_schema.py.</a:t>
            </a:r>
          </a:p>
          <a:p xmlns:a="http://schemas.openxmlformats.org/drawingml/2006/main">
            <a:r>
              <a:t>- utils/training_dataset_v2.py.</a:t>
            </a:r>
          </a:p>
          <a:p xmlns:a="http://schemas.openxmlformats.org/drawingml/2006/main">
            <a:r>
              <a:t>- utils/perturbations_v2.py.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results/v3_tests/clean_comparison/v2_20260714.csv.</a:t>
            </a:r>
          </a:p>
          <a:p xmlns:a="http://schemas.openxmlformats.org/drawingml/2006/main">
            <a:r>
              <a:t>- results/v3_tests/clean_comparison/v2_20261017.csv.</a:t>
            </a:r>
          </a:p>
          <a:p xmlns:a="http://schemas.openxmlformats.org/drawingml/2006/main">
            <a:r>
              <a:t>- results/v3_tests/clean_comparison/v3_20260714.csv.</a:t>
            </a:r>
          </a:p>
          <a:p xmlns:a="http://schemas.openxmlformats.org/drawingml/2006/main">
            <a:r>
              <a:t>- results/v3_tests/clean_comparison/v3_20261017.csv.</a:t>
            </a:r>
          </a:p>
          <a:p xmlns:a="http://schemas.openxmlformats.org/drawingml/2006/main">
            <a:r>
              <a:t>- Computed totals: V2 222/240; V3 235/240; exact paired McNemar p=0.0072.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scripts/benchmark_robustness_v2.py.</a:t>
            </a:r>
          </a:p>
          <a:p xmlns:a="http://schemas.openxmlformats.org/drawingml/2006/main">
            <a:r>
              <a:t>- utils/evaluation_core_v2.py.</a:t>
            </a:r>
          </a:p>
          <a:p xmlns:a="http://schemas.openxmlformats.org/drawingml/2006/main">
            <a:r>
              <a:t>- utils/perturbations_v2.py.</a:t>
            </a:r>
          </a:p>
          <a:p xmlns:a="http://schemas.openxmlformats.org/drawingml/2006/main">
            <a:r>
              <a:t>- The prior pilot curve was removed because its protocol was invalidated by later auditing.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5bea666f84e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5c6634dce34b58" /><Relationship Type="http://schemas.openxmlformats.org/officeDocument/2006/relationships/slideLayout" Target="/ppt/slideLayouts/slideLayout1.xml" Id="R12001d04210a4c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001d04210a4c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1c316370e4502" /><Relationship Type="http://schemas.openxmlformats.org/officeDocument/2006/relationships/image" Target="/ppt/media/image.png" Id="R0ff4ff42aece4dcc" /><Relationship Type="http://schemas.openxmlformats.org/officeDocument/2006/relationships/notesSlide" Target="/ppt/notesSlides/notesSlide1.xml" Id="Rde972e5b24f542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3834367e84ed6" /><Relationship Type="http://schemas.openxmlformats.org/officeDocument/2006/relationships/notesSlide" Target="/ppt/notesSlides/notesSlide2.xml" Id="R97c417e0a2f747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e01650dbf477a" /><Relationship Type="http://schemas.openxmlformats.org/officeDocument/2006/relationships/notesSlide" Target="/ppt/notesSlides/notesSlide3.xml" Id="Rbcc577e10cf343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94c9666b24137" /><Relationship Type="http://schemas.openxmlformats.org/officeDocument/2006/relationships/notesSlide" Target="/ppt/notesSlides/notesSlide4.xml" Id="R1b9691b6838b4b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bb301ddfc4374" /><Relationship Type="http://schemas.openxmlformats.org/officeDocument/2006/relationships/chart" Target="/ppt/slides/charts/chart1.xml" Id="Rf3a4656c30164213" /><Relationship Type="http://schemas.openxmlformats.org/officeDocument/2006/relationships/notesSlide" Target="/ppt/notesSlides/notesSlide5.xml" Id="Rdf71586bb30a43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621a011f94757" /><Relationship Type="http://schemas.openxmlformats.org/officeDocument/2006/relationships/notesSlide" Target="/ppt/notesSlides/notesSlide6.xml" Id="R926bbea69697447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V2 Clean</c:v>
          </c:tx>
          <c:spPr>
            <a:solidFill xmlns:a="http://schemas.openxmlformats.org/drawingml/2006/main">
              <a:srgbClr val="9FB2C4"/>
            </a:solidFill>
            <a:ln xmlns:a="http://schemas.openxmlformats.org/drawingml/2006/main" w="4763">
              <a:solidFill>
                <a:srgbClr val="9FB2C4"/>
              </a:solidFill>
            </a:ln>
          </c:spPr>
          <c:cat>
            <c:strLit>
              <c:ptCount val="6"/>
              <c:pt idx="0">
                <c:v>Pick A</c:v>
              </c:pt>
              <c:pt idx="1">
                <c:v>Pick B</c:v>
              </c:pt>
              <c:pt idx="2">
                <c:v>Pick C</c:v>
              </c:pt>
              <c:pt idx="3">
                <c:v>Push A</c:v>
              </c:pt>
              <c:pt idx="4">
                <c:v>Push B</c:v>
              </c:pt>
              <c:pt idx="5">
                <c:v>Push C</c:v>
              </c:pt>
            </c:strLit>
          </c:cat>
          <c:val>
            <c:numLit>
              <c:formatCode>0"%"</c:formatCode>
              <c:ptCount val="6"/>
              <c:pt idx="0">
                <c:v>90</c:v>
              </c:pt>
              <c:pt idx="1">
                <c:v>100</c:v>
              </c:pt>
              <c:pt idx="2">
                <c:v>97.5</c:v>
              </c:pt>
              <c:pt idx="3">
                <c:v>82.5</c:v>
              </c:pt>
              <c:pt idx="4">
                <c:v>95</c:v>
              </c:pt>
              <c:pt idx="5">
                <c:v>90</c:v>
              </c:pt>
            </c:numLit>
          </c:val>
        </c:ser>
        <c:ser>
          <c:idx val="1"/>
          <c:order val="1"/>
          <c:tx>
            <c:v>V3</c:v>
          </c:tx>
          <c:spPr>
            <a:solidFill xmlns:a="http://schemas.openxmlformats.org/drawingml/2006/main">
              <a:srgbClr val="2B78C5"/>
            </a:solidFill>
            <a:ln xmlns:a="http://schemas.openxmlformats.org/drawingml/2006/main" w="4763">
              <a:solidFill>
                <a:srgbClr val="2B78C5"/>
              </a:solidFill>
            </a:ln>
          </c:spPr>
          <c:cat>
            <c:strLit>
              <c:ptCount val="6"/>
              <c:pt idx="0">
                <c:v>Pick A</c:v>
              </c:pt>
              <c:pt idx="1">
                <c:v>Pick B</c:v>
              </c:pt>
              <c:pt idx="2">
                <c:v>Pick C</c:v>
              </c:pt>
              <c:pt idx="3">
                <c:v>Push A</c:v>
              </c:pt>
              <c:pt idx="4">
                <c:v>Push B</c:v>
              </c:pt>
              <c:pt idx="5">
                <c:v>Push C</c:v>
              </c:pt>
            </c:strLit>
          </c:cat>
          <c:val>
            <c:numLit>
              <c:formatCode>0"%"</c:formatCode>
              <c:ptCount val="6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92.5</c:v>
              </c:pt>
              <c:pt idx="5">
                <c:v>95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263B5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D607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B8D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4763">
          <a:solidFill>
            <a:srgbClr val="E4EBF1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354A5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82B6CB0-2432-45BB-BEE3-4DB67729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2" name="robot-tableto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4ff42aece4dcc"/>
          <a:srcRect xmlns:a="http://schemas.openxmlformats.org/drawingml/2006/main" l="23619" t="0" r="236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2625" y="0"/>
            <a:ext cx="642937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582777A-790E-4B7D-AEBA-76615292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17922E-5D88-43E9-81E2-2898DDD0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5E5"/>
          </a:solidFill>
          <a:ln xmlns:a="http://schemas.openxmlformats.org/drawingml/2006/main" w="0">
            <a:solidFill>
              <a:srgbClr val="1775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B163A0-3B25-4135-BC3A-B6B831E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75E5"/>
                </a:solidFill>
                <a:latin typeface="Helvetica Neue"/>
                <a:ea typeface="Helvetica Neue"/>
                <a:cs typeface="Helvetica Neue"/>
              </a:defRPr>
            </a:pPr>
            <a:r>
              <a:t>STAGE REVIEW · JULY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051270A-9DD2-4C5D-8842-12EF0E27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762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MiniVLA</a:t>
            </a:r>
          </a:p>
          <a:p xmlns:a="http://schemas.openxmlformats.org/drawingml/2006/main">
            <a:pPr>
              <a:buNone/>
              <a:def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V3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9EDC388-5ECA-43B1-8807-7C53EE7F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44958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Recovery-aware language-conditioned control with a validated clean baseline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3E6E0F0-478B-4ADF-99B6-2973374C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4619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MuJoCo / robosuite · Mac closed-loop evaluation · Cognition L40S training</a:t>
            </a:r>
          </a:p>
        </p:txBody>
      </p:sp>
    </p:spTree>
    <p:extLst>
      <p:ext uri="{BB962C8B-B14F-4D97-AF65-F5344CB8AC3E}">
        <p14:creationId xmlns:p14="http://schemas.microsoft.com/office/powerpoint/2010/main" val="707237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CDA0252E-B94A-4585-8EF6-DB6594C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75E5"/>
                </a:solidFill>
                <a:latin typeface="Helvetica Neue"/>
                <a:ea typeface="Helvetica Neue"/>
                <a:cs typeface="Helvetica Neue"/>
              </a:defRPr>
            </a:pPr>
            <a:r>
              <a:t>MINIVLA V3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1AD90B-E0FC-4BF8-AFED-7E37404F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839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system: recovery-aware multimodal control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ACC8B6-726C-454D-9802-0C9BB695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76AA7E5-ABC6-4848-B421-4E9A9D84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52C5CF-9CD6-4036-BB47-0A5F9E97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524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1,800 demonstrations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BA204-F061-4F8D-B423-79771912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86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1,200 clean + 600 targeted recovery trajectories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8E9CDF6-B6B4-49E3-A36F-B736FF91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3147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39D4DB3-C00C-4AE8-B518-1C13B0D4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75E5"/>
                </a:solidFill>
                <a:latin typeface="Helvetica Neue"/>
                <a:ea typeface="Helvetica Neue"/>
                <a:cs typeface="Helvetica Neue"/>
              </a:defRPr>
            </a:pPr>
            <a:r>
              <a:t>TASK SPACE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71CD8C5-9A8C-4ED5-B7A2-0CEB864C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649"/>
          </a:solidFill>
          <a:ln xmlns:a="http://schemas.openxmlformats.org/drawingml/2006/main" w="0">
            <a:solidFill>
              <a:srgbClr val="E4564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65514C2-EBD8-4CF8-A97B-612F6F1F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Red cube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FAE4476C-8934-4181-BEC7-E1925757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5E5"/>
          </a:solidFill>
          <a:ln xmlns:a="http://schemas.openxmlformats.org/drawingml/2006/main" w="0">
            <a:solidFill>
              <a:srgbClr val="1775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1DB50A9-E1E1-4EE1-AF89-1376B3DF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Blue sphere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BE2592A2-051D-4FD8-8DCD-CD22D01D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F63"/>
          </a:solidFill>
          <a:ln xmlns:a="http://schemas.openxmlformats.org/drawingml/2006/main" w="0">
            <a:solidFill>
              <a:srgbClr val="268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8E29046-CBAB-4250-B616-90DC3CD4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Green cylinder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1620F0C-69C8-4F3C-A9D6-E1D5CF89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Pick ×3 · Push ×3</a:t>
            </a:r>
          </a:p>
        </p:txBody>
      </p:sp>
      <p:cxnSp>
        <p:nvCxnSpPr>
          <p:cNvPr id="83" name="Straight Arrow Connector 48"/>
          <p:cNvCxnSpPr/>
          <p:nvPr/>
        </p:nvCxnSpPr>
        <p:spPr>
          <a:xfrm xmlns:a="http://schemas.openxmlformats.org/drawingml/2006/main">
            <a:off x="4324350" y="3505200"/>
            <a:ext cx="8001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E6"/>
            </a:solidFill>
            <a:prstDash val="solid"/>
          </a:ln>
        </p:spPr>
      </p:cxnSp>
      <p:cxnSp>
        <p:nvCxnSpPr>
          <p:cNvPr id="84" name="Straight Arrow Connector 49"/>
          <p:cNvCxnSpPr/>
          <p:nvPr/>
        </p:nvCxnSpPr>
        <p:spPr>
          <a:xfrm xmlns:a="http://schemas.openxmlformats.org/drawingml/2006/main">
            <a:off x="7753350" y="3505200"/>
            <a:ext cx="8001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EE6"/>
            </a:solidFill>
            <a:prstDash val="solid"/>
          </a:ln>
        </p:spPr>
      </p:cxn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4741171C-CA55-42DD-8FBF-3323BD9D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19300"/>
            <a:ext cx="2628900" cy="29718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025A87E-34C9-4AC9-81D1-891F2051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4790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75E5"/>
                </a:solidFill>
                <a:latin typeface="Helvetica Neue"/>
                <a:ea typeface="Helvetica Neue"/>
                <a:cs typeface="Helvetica Neue"/>
              </a:defRPr>
            </a:pPr>
            <a:r>
              <a:t>MULTIMODAL POLICY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5495E2B-52BB-4C32-B1B3-185D039D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241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Dual-view vision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A73822B-867E-44BC-BB94-81F2AE68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67050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agentview + wrist</a:t>
            </a:r>
          </a:p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112 × 112 RGB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6B6AFAB-6104-40FE-8041-37B1E4D8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242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7"/>
          </a:solidFill>
          <a:ln xmlns:a="http://schemas.openxmlformats.org/drawingml/2006/main" w="0">
            <a:solidFill>
              <a:srgbClr val="C9DD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C3BB3F4-A17C-4BE7-A1B7-15425E8F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624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Language + state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2A240D3-9F13-42A5-AD0D-FED5B756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2435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DistilBERT · 5-step history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DE80C96-B69A-4518-BFE5-13264B25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19300"/>
            <a:ext cx="2838450" cy="297180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B062BC9-45B1-4AB9-86BC-F7B6A8FA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47900"/>
            <a:ext cx="2333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68F63"/>
                </a:solidFill>
                <a:latin typeface="Helvetica Neue"/>
                <a:ea typeface="Helvetica Neue"/>
                <a:cs typeface="Helvetica Neue"/>
              </a:defRPr>
            </a:pPr>
            <a:r>
              <a:t>CLOSED-LOOP CONTROL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0DEA865-2A97-4FAC-BBE3-284DE332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7D OSC_POSE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06EF062-4344-4992-B56B-AC9F2915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670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ΔXYZ + axis-angle + grip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AE3A160-6B63-4E59-A81E-64CE9092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24275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6D8"/>
          </a:solidFill>
          <a:ln xmlns:a="http://schemas.openxmlformats.org/drawingml/2006/main" w="0">
            <a:solidFill>
              <a:srgbClr val="C9E6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7A6FD7C-A7C9-4910-B7AC-7625ABA8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62400"/>
            <a:ext cx="2190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20-step ACT</a:t>
            </a:r>
          </a:p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chunks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BE5A152-D66F-40DB-A50F-C315E7F5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72000"/>
            <a:ext cx="2238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Replan every step · bounded history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AFC8C6D-E316-40B4-8666-18CAF623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goal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56C9FD8-5248-487E-A737-692B8F1E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05475"/>
            <a:ext cx="857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clean performance and degradation under controlled visual, physical, scene and temporal perturbations.</a:t>
            </a:r>
          </a:p>
        </p:txBody>
      </p:sp>
    </p:spTree>
    <p:extLst>
      <p:ext uri="{BB962C8B-B14F-4D97-AF65-F5344CB8AC3E}">
        <p14:creationId xmlns:p14="http://schemas.microsoft.com/office/powerpoint/2010/main" val="1277993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0E7DAEE-39FD-4009-9A1D-F2DBD5BE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75E5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 EVOLUTION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4D2AB4-B6B0-4B5E-8759-C0204340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839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Causal data and recovery drove the V2-to-V3 gains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624F620-57FE-47A4-ABEC-912C7FC8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1C91AA7-FD73-4787-A5FC-87EC8203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9C18CCC-C45E-4270-8594-2A735050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B659EA-743A-4C83-82E2-CDAD4C57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Matched clean success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5184438-C754-47EC-8AF4-8E223DC0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E45649"/>
                </a:solidFill>
                <a:latin typeface="Helvetica Neue"/>
                <a:ea typeface="Helvetica Neue"/>
                <a:cs typeface="Helvetica Neue"/>
              </a:defRPr>
            </a:pPr>
            <a:r>
              <a:t>12.5%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FF7666F-59CE-43E5-8684-3D0B1FC7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14500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C98B22"/>
                </a:solidFill>
                <a:latin typeface="Helvetica Neue"/>
                <a:ea typeface="Helvetica Neue"/>
                <a:cs typeface="Helvetica Neue"/>
              </a:defRPr>
            </a:pPr>
            <a:r>
              <a:t>75.8%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D88B8C1-6BA9-426F-A09E-C4050EBA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097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92.5%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53187A-1BE0-4DD8-8088-69F02F28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097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45649"/>
                </a:solidFill>
                <a:latin typeface="Helvetica Neue"/>
                <a:ea typeface="Helvetica Neue"/>
                <a:cs typeface="Helvetica Neue"/>
              </a:defRPr>
            </a:pPr>
            <a:r>
              <a:t>protocol audit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E0F7B86-16BA-42A9-A312-EF6B4B40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0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8F63"/>
                </a:solidFill>
                <a:latin typeface="Helvetica Neue"/>
                <a:ea typeface="Helvetica Neue"/>
                <a:cs typeface="Helvetica Neue"/>
              </a:defRPr>
            </a:pPr>
            <a:r>
              <a:t>97.92%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67798CD0-7F91-4AF8-A7EF-FEFAB3A2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649"/>
          </a:solidFill>
          <a:ln xmlns:a="http://schemas.openxmlformats.org/drawingml/2006/main" w="0">
            <a:solidFill>
              <a:srgbClr val="E4564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590228A-C7A1-44FB-AEBC-93FB4A01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666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V2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1BD68F-4C2D-4D79-8263-F51F7090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85737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Correlated batches</a:t>
            </a:r>
          </a:p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Initial-state scarcity</a:t>
            </a:r>
          </a:p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BN instability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05C2A4EB-6900-49AD-8873-5B7B7856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43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B22"/>
          </a:solidFill>
          <a:ln xmlns:a="http://schemas.openxmlformats.org/drawingml/2006/main" w="0">
            <a:solidFill>
              <a:srgbClr val="C98B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27E49CA-299F-48F2-B760-91ED686A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29000"/>
            <a:ext cx="1666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V2.1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7A0C32D-E394-4286-A3CD-7AC85DE9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10000"/>
            <a:ext cx="185737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Interleaving + GroupNorm</a:t>
            </a:r>
          </a:p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Initial-state validation</a:t>
            </a:r>
          </a:p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Grounding rescue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6C25634A-BCBC-4073-8B39-1DF6D8FA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43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5E5"/>
          </a:solidFill>
          <a:ln xmlns:a="http://schemas.openxmlformats.org/drawingml/2006/main" w="0">
            <a:solidFill>
              <a:srgbClr val="1775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7A523EE-0ABB-4090-B2B2-8741779A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29000"/>
            <a:ext cx="1666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V2 Clean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F28B81E-DB9D-407E-8B94-23999AE9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185737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Causal transitions</a:t>
            </a:r>
          </a:p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Interaction conditioning</a:t>
            </a:r>
          </a:p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gates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87B336B1-FFD5-4C33-8B38-5EA5F0CA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43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649"/>
          </a:solidFill>
          <a:ln xmlns:a="http://schemas.openxmlformats.org/drawingml/2006/main" w="0">
            <a:solidFill>
              <a:srgbClr val="E4564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997D39A-E9B9-4BF0-AFEA-83F98369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29000"/>
            <a:ext cx="1666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Audit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9AB8FA4-636F-40D8-95B5-3E1884D6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10000"/>
            <a:ext cx="185737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Pilot protocol defects</a:t>
            </a:r>
          </a:p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OOD grounding drift</a:t>
            </a:r>
          </a:p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Recovery gap exposed</a:t>
            </a: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72972990-EEE2-48F3-B39F-599A80DA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43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F63"/>
          </a:solidFill>
          <a:ln xmlns:a="http://schemas.openxmlformats.org/drawingml/2006/main" w="0">
            <a:solidFill>
              <a:srgbClr val="268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6D746F5-A8A7-4C75-A75E-8AF2C8EE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29000"/>
            <a:ext cx="1666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V3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67BD88-F55E-4374-94F4-537C93A4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10000"/>
            <a:ext cx="185737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Targeted recovery data</a:t>
            </a:r>
          </a:p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Language augmentation</a:t>
            </a:r>
          </a:p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HPC fine-tuning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AD77097F-E991-44B1-927C-061B3892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0839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02A67F9-D00F-4E11-8B28-26C80FFF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Key lesson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FBC664C-9DB3-4870-BC25-024CDCD1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6197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Keep the proven policy, then add targeted recovery data and stricter evaluation.</a:t>
            </a:r>
          </a:p>
        </p:txBody>
      </p:sp>
    </p:spTree>
    <p:extLst>
      <p:ext uri="{BB962C8B-B14F-4D97-AF65-F5344CB8AC3E}">
        <p14:creationId xmlns:p14="http://schemas.microsoft.com/office/powerpoint/2010/main" val="915649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F991634B-2479-45CE-A16C-6D181840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75E5"/>
                </a:solidFill>
                <a:latin typeface="Helvetica Neue"/>
                <a:ea typeface="Helvetica Neue"/>
                <a:cs typeface="Helvetica Neue"/>
              </a:defRPr>
            </a:pPr>
            <a:r>
              <a:t>CODE ARCHITECTURE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3E05BF3-4AB6-4B04-87FA-5E0342D6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839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Three files carry the current system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A806B61-4249-4FA6-A08E-F95DA586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03BB506-4D32-4BAC-9E6B-4D6B5F15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C079586-7A6A-4C2C-9880-DF58F77D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257550" cy="37147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427215-7C43-4386-B15F-6F805CAE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257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5E5"/>
          </a:solidFill>
          <a:ln xmlns:a="http://schemas.openxmlformats.org/drawingml/2006/main" w="0">
            <a:solidFill>
              <a:srgbClr val="1775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470D874-F37E-4BB9-BE1B-9D46365C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1 · collect_data_v3.py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8779B7-1534-491C-99D9-26CBB4E9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5E5"/>
          </a:solidFill>
          <a:ln xmlns:a="http://schemas.openxmlformats.org/drawingml/2006/main" w="0">
            <a:solidFill>
              <a:srgbClr val="1775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9B57839-D3E9-41ED-8036-D7A67A9A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Target-displacement recovery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31A126BB-822E-468E-A9A8-8E793973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5E5"/>
          </a:solidFill>
          <a:ln xmlns:a="http://schemas.openxmlformats.org/drawingml/2006/main" w="0">
            <a:solidFill>
              <a:srgbClr val="1775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B6A9E2C-F48E-47F8-AF50-A9C28329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Forced miss-and-retry cases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0D5EB32D-751B-4283-A0F4-C7E63B29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5E5"/>
          </a:solidFill>
          <a:ln xmlns:a="http://schemas.openxmlformats.org/drawingml/2006/main" w="0">
            <a:solidFill>
              <a:srgbClr val="1775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D86C908-9398-4D23-A054-08353593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Live target re-localisation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5EADB6AE-966F-4ABF-A398-EA8808A3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5E5"/>
          </a:solidFill>
          <a:ln xmlns:a="http://schemas.openxmlformats.org/drawingml/2006/main" w="0">
            <a:solidFill>
              <a:srgbClr val="1775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57DBDAE-388C-4A78-A2D9-252ABD6E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Rejects non-causal rollouts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20A72C2-8D39-426E-A133-471FC232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76400"/>
            <a:ext cx="3257550" cy="37147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C793523-100F-4AB4-80C7-D4314619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76400"/>
            <a:ext cx="3257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F63"/>
          </a:solidFill>
          <a:ln xmlns:a="http://schemas.openxmlformats.org/drawingml/2006/main" w="0">
            <a:solidFill>
              <a:srgbClr val="268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A6E3484-7D6D-4BE5-B32A-8FF9F7A7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2 · mini_vla_v2.py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39A140C8-0B91-4EDD-9563-47B65138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F63"/>
          </a:solidFill>
          <a:ln xmlns:a="http://schemas.openxmlformats.org/drawingml/2006/main" w="0">
            <a:solidFill>
              <a:srgbClr val="268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B521BBD-B1F8-43D9-B8FD-CEF7F10D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Language + dual-view tokens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A16415EA-79BC-4BEA-962C-F3224444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95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F63"/>
          </a:solidFill>
          <a:ln xmlns:a="http://schemas.openxmlformats.org/drawingml/2006/main" w="0">
            <a:solidFill>
              <a:srgbClr val="268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A173870-A3A6-44B8-A1CD-DB5C824E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194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5-step proprioceptive history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4F76AC99-5257-4464-B120-9BF25EA5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F63"/>
          </a:solidFill>
          <a:ln xmlns:a="http://schemas.openxmlformats.org/drawingml/2006/main" w="0">
            <a:solidFill>
              <a:srgbClr val="268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0A90422-D921-4964-92CB-9FAE34B4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909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20-step ACT decoder</a:t>
            </a: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0F84D314-1FBB-4FBA-9C3E-E83CA2BE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F63"/>
          </a:solidFill>
          <a:ln xmlns:a="http://schemas.openxmlformats.org/drawingml/2006/main" w="0">
            <a:solidFill>
              <a:srgbClr val="268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433630C-06DC-4A87-A641-6394A1A2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Grounding + interaction heads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E811B7F-1AA9-46DB-8E62-A9A5A141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3257550" cy="37147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AF1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0C1D494-BF4D-40A7-AFAC-E87C2797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3257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2"/>
          </a:solidFill>
          <a:ln xmlns:a="http://schemas.openxmlformats.org/drawingml/2006/main" w="0">
            <a:solidFill>
              <a:srgbClr val="C98B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04272886-C1D9-4D74-95D2-F3C850CD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3 · evaluation_core_v2.py</a:t>
            </a: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E11766BA-E5C4-4E81-B16C-813D19D3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B22"/>
          </a:solidFill>
          <a:ln xmlns:a="http://schemas.openxmlformats.org/drawingml/2006/main" w="0">
            <a:solidFill>
              <a:srgbClr val="C98B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2CB82ECA-F84B-40D6-907A-E80BBEEE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Closed-loop inference</a:t>
            </a:r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A43A4C72-4667-484E-8337-A12F89DF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B22"/>
          </a:solidFill>
          <a:ln xmlns:a="http://schemas.openxmlformats.org/drawingml/2006/main" w="0">
            <a:solidFill>
              <a:srgbClr val="C98B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9A95534-1F31-404A-BFAA-E6D810DE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Bounded temporal ensembling</a:t>
            </a:r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6517ED30-7A44-408D-B481-9DA58EA8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B22"/>
          </a:solidFill>
          <a:ln xmlns:a="http://schemas.openxmlformats.org/drawingml/2006/main" w="0">
            <a:solidFill>
              <a:srgbClr val="C98B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25CC8966-D915-4B6A-A88C-C89B9B8D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Safety + action diagnostics</a:t>
            </a: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C79EBE6B-2B67-4D1F-A3DA-82DC6ED2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B22"/>
          </a:solidFill>
          <a:ln xmlns:a="http://schemas.openxmlformats.org/drawingml/2006/main" w="0">
            <a:solidFill>
              <a:srgbClr val="C98B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A997BBE-336E-494C-9948-41EFBEE2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624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Failure taxonomy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54E8398B-7C03-4968-892D-28882E53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Supporting modules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3E817466-F029-4D99-B3CA-5668F8A5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34050"/>
            <a:ext cx="809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v2_schema.py · training_dataset_v2.py · perturbations_v2.py</a:t>
            </a:r>
          </a:p>
        </p:txBody>
      </p:sp>
    </p:spTree>
    <p:extLst>
      <p:ext uri="{BB962C8B-B14F-4D97-AF65-F5344CB8AC3E}">
        <p14:creationId xmlns:p14="http://schemas.microsoft.com/office/powerpoint/2010/main" val="1600761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8376D7E-11E5-4FDD-A145-BC10998E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75E5"/>
                </a:solidFill>
                <a:latin typeface="Helvetica Neue"/>
                <a:ea typeface="Helvetica Neue"/>
                <a:cs typeface="Helvetica Neue"/>
              </a:defRPr>
            </a:pPr>
            <a:r>
              <a:t>MATCHED CLEAN EVALUATION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09D8E3-DB7C-4272-BAA8-A1E1EEA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839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V3 raises clean success from 92.50% to 97.92%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5C9A2C-9284-4ACF-AC5F-C71FE2B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7BE51A9-F282-430D-8853-96944B0D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9397CFD-66F1-43FA-9949-99C7AC8D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4295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D1920D9-A15E-4FDC-9C6F-479DF4E3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Success rate by task (%)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854FA8-FF45-4D42-B8C4-D11D973F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939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240 matched episodes/model · identical seeds, scenes and evaluator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7BEB3B-A433-47B0-BAF0-D789E262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268F63"/>
                </a:solidFill>
                <a:latin typeface="Helvetica Neue"/>
                <a:ea typeface="Helvetica Neue"/>
                <a:cs typeface="Helvetica Neue"/>
              </a:defRPr>
            </a:pPr>
            <a:r>
              <a:t>97.92%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6BBDDB-4A11-432A-B98C-985D6CB5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235 / 240 V3 successes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31F9338-D0FE-46E8-A345-B9D83FAB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3365684-2E3A-4415-A8AF-76A1F723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941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775E5"/>
                </a:solidFill>
                <a:latin typeface="Helvetica Neue"/>
                <a:ea typeface="Helvetica Neue"/>
                <a:cs typeface="Helvetica Neue"/>
              </a:defRPr>
            </a:pPr>
            <a:r>
              <a:t>+5.42 pp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CF0759C-12B8-4605-B9D8-80A86B6E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33750"/>
            <a:ext cx="1600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absolute gain over V2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ECA6013-8E88-4A35-B42F-ADE4515E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p=.0072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43AA535-C8A0-4D0D-A7B7-A7800C94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62400"/>
            <a:ext cx="1600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exact paired McNemar test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4329B56-9C3E-448E-9E3C-74B06D75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910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0.725 cm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7AD3C06-6332-496C-8EC8-E9FD965A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720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mean V3 grounding error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0B3DE78-271E-4665-BE71-2811570E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43550"/>
            <a:ext cx="2628900" cy="61912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EB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C84EA73-5008-47A3-BA17-0EBE368A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676900"/>
            <a:ext cx="234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6628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45649"/>
                </a:solidFill>
                <a:latin typeface="Helvetica Neue"/>
                <a:ea typeface="Helvetica Neue"/>
                <a:cs typeface="Helvetica Neue"/>
              </a:defRPr>
            </a:pPr>
            <a:r>
              <a:t>Remaining: Push-B distance · Push-C drift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800100" y="2266950"/>
          <a:ext xmlns:a="http://schemas.openxmlformats.org/drawingml/2006/main" cx="68199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a4656c30164213"/>
          </a:graphicData>
        </a:graphic>
      </p:graphicFrame>
    </p:spTree>
    <p:extLst>
      <p:ext uri="{BB962C8B-B14F-4D97-AF65-F5344CB8AC3E}">
        <p14:creationId xmlns:p14="http://schemas.microsoft.com/office/powerpoint/2010/main" val="11828452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5E9F224-91C2-4999-931E-59BF63F1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775E5"/>
                </a:solidFill>
                <a:latin typeface="Helvetica Neue"/>
                <a:ea typeface="Helvetica Neue"/>
                <a:cs typeface="Helvetica Neue"/>
              </a:defRPr>
            </a:pPr>
            <a:r>
              <a:t>ROBUSTNESS BENCHMARKING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29188B6-4881-438C-8E99-4A19CAC2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839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247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Clean control is validated; robustness is now the research question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585B26-41B3-4BE5-B8A4-E2D325A5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D9E19C4-9A4E-4DC3-8DF8-62ED63B9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72E2E80-4AF2-4958-A6A9-8F8876F1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8580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3E4F3BB-E2F6-4E5A-A34E-C33FF3E6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Paired target-displacement protocol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481C4F-A123-48C0-80FD-922A7DDA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561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Same task · same seed · same collision-safe direction · paired execution modes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9AF7CDA-8334-4A98-81A4-01D91749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Protocol hardening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3B0009E-1ECC-494C-A0B4-3411FE2F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14550"/>
            <a:ext cx="33909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Teleport distance is excluded from push progress; every level shares one collision-safe direction and paired scene seeds.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502312F-CDA8-45E4-BDD2-6203D421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AF718C1-B22F-48EF-ADB2-C895208D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Next stress tests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76CA53A-F85D-45DB-9A48-F39BBD0C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91000"/>
            <a:ext cx="3390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01  Dynamic target displacement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B754E2-806A-41B9-9271-57FE2617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0"/>
            <a:ext cx="3390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02  Visual noise and blur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F46AF39-F5E7-499E-8CFB-FB037958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53000"/>
            <a:ext cx="3390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03  Physics drift + OOD distractors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70BABE9-06FF-43ED-8B25-4B79E843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34000"/>
            <a:ext cx="3390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04  Camera extrinsic shift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38EAF0A-860F-4132-A4B4-C976ADA2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867400"/>
            <a:ext cx="3390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45649"/>
                </a:solidFill>
                <a:latin typeface="Helvetica Neue"/>
                <a:ea typeface="Helvetica Neue"/>
                <a:cs typeface="Helvetica Neue"/>
              </a:defRPr>
            </a:pPr>
            <a:r>
              <a:t>Status: no robustness claim until paired degradation curves are complete.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C69AB-A208-440A-9E71-79BC3108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876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11906">
            <a:solidFill>
              <a:srgbClr val="AFC4D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24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24B"/>
                </a:solidFill>
                <a:latin typeface="Calibri"/>
                <a:ea typeface="Calibri"/>
                <a:cs typeface="Calibri"/>
              </a:rPr>
              <a:t>0 cm</a:t>
            </a:r>
          </a:p>
          <a:p xmlns:a="http://schemas.openxmlformats.org/drawingml/2006/main">
            <a:pPr algn="ctr">
              <a:defRPr sz="1125" b="1">
                <a:solidFill>
                  <a:srgbClr val="18324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24B"/>
                </a:solidFill>
                <a:latin typeface="Calibri"/>
                <a:ea typeface="Calibri"/>
                <a:cs typeface="Calibri"/>
              </a:rPr>
              <a:t>Clean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0BE24-1877-4CDA-8721-A1AE6E98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8956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CC9"/>
          </a:solidFill>
          <a:ln xmlns:a="http://schemas.openxmlformats.org/drawingml/2006/main" w="4763">
            <a:solidFill>
              <a:srgbClr val="AEBCC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92CC1-0D93-49D3-8AF5-783AAB27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86050"/>
            <a:ext cx="876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11906">
            <a:solidFill>
              <a:srgbClr val="AFC4D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24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24B"/>
                </a:solidFill>
                <a:latin typeface="Calibri"/>
                <a:ea typeface="Calibri"/>
                <a:cs typeface="Calibri"/>
              </a:rPr>
              <a:t>2 cm</a:t>
            </a:r>
          </a:p>
          <a:p xmlns:a="http://schemas.openxmlformats.org/drawingml/2006/main">
            <a:pPr algn="ctr">
              <a:defRPr sz="1125" b="1">
                <a:solidFill>
                  <a:srgbClr val="18324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24B"/>
                </a:solidFill>
                <a:latin typeface="Calibri"/>
                <a:ea typeface="Calibri"/>
                <a:cs typeface="Calibri"/>
              </a:rPr>
              <a:t>Mild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5B71C-1CAF-4F2F-AD70-07E324CE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956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CC9"/>
          </a:solidFill>
          <a:ln xmlns:a="http://schemas.openxmlformats.org/drawingml/2006/main" w="4763">
            <a:solidFill>
              <a:srgbClr val="AEBCC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0DB67-AC58-44D0-899D-8C03032F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876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4ED"/>
          </a:solidFill>
          <a:ln xmlns:a="http://schemas.openxmlformats.org/drawingml/2006/main" w="11906">
            <a:solidFill>
              <a:srgbClr val="4D9B68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24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24B"/>
                </a:solidFill>
                <a:latin typeface="Calibri"/>
                <a:ea typeface="Calibri"/>
                <a:cs typeface="Calibri"/>
              </a:rPr>
              <a:t>4 cm</a:t>
            </a:r>
          </a:p>
          <a:p xmlns:a="http://schemas.openxmlformats.org/drawingml/2006/main">
            <a:pPr algn="ctr">
              <a:defRPr sz="1125" b="1">
                <a:solidFill>
                  <a:srgbClr val="18324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24B"/>
                </a:solidFill>
                <a:latin typeface="Calibri"/>
                <a:ea typeface="Calibri"/>
                <a:cs typeface="Calibri"/>
              </a:rPr>
              <a:t>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B2FEA-5075-4DA7-92DE-750DAB5C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956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CC9"/>
          </a:solidFill>
          <a:ln xmlns:a="http://schemas.openxmlformats.org/drawingml/2006/main" w="4763">
            <a:solidFill>
              <a:srgbClr val="AEBCC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23F3F-52DA-40CD-86AD-727598CF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876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11906">
            <a:solidFill>
              <a:srgbClr val="AFC4D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24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24B"/>
                </a:solidFill>
                <a:latin typeface="Calibri"/>
                <a:ea typeface="Calibri"/>
                <a:cs typeface="Calibri"/>
              </a:rPr>
              <a:t>6 cm</a:t>
            </a:r>
          </a:p>
          <a:p xmlns:a="http://schemas.openxmlformats.org/drawingml/2006/main">
            <a:pPr algn="ctr">
              <a:defRPr sz="1125" b="1">
                <a:solidFill>
                  <a:srgbClr val="18324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24B"/>
                </a:solidFill>
                <a:latin typeface="Calibri"/>
                <a:ea typeface="Calibri"/>
                <a:cs typeface="Calibri"/>
              </a:rPr>
              <a:t>High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1EF9EA-9EE3-4C33-8A0C-080C7F85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8956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CC9"/>
          </a:solidFill>
          <a:ln xmlns:a="http://schemas.openxmlformats.org/drawingml/2006/main" w="4763">
            <a:solidFill>
              <a:srgbClr val="AEBCC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9223CD-5464-462C-BDF4-5BB1845D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86050"/>
            <a:ext cx="876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11906">
            <a:solidFill>
              <a:srgbClr val="AFC4D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324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24B"/>
                </a:solidFill>
                <a:latin typeface="Calibri"/>
                <a:ea typeface="Calibri"/>
                <a:cs typeface="Calibri"/>
              </a:rPr>
              <a:t>8 cm</a:t>
            </a:r>
          </a:p>
          <a:p xmlns:a="http://schemas.openxmlformats.org/drawingml/2006/main">
            <a:pPr algn="ctr">
              <a:defRPr sz="1125" b="1">
                <a:solidFill>
                  <a:srgbClr val="18324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24B"/>
                </a:solidFill>
                <a:latin typeface="Calibri"/>
                <a:ea typeface="Calibri"/>
                <a:cs typeface="Calibri"/>
              </a:rPr>
              <a:t>Stress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2E0FAA-0E63-4546-A7BF-E0B01B22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186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906">
            <a:solidFill>
              <a:srgbClr val="2B78C5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5E9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E5E99"/>
                </a:solidFill>
                <a:latin typeface="Calibri"/>
                <a:ea typeface="Calibri"/>
                <a:cs typeface="Calibri"/>
              </a:rPr>
              <a:t>TEMPORAL</a:t>
            </a:r>
          </a:p>
          <a:p xmlns:a="http://schemas.openxmlformats.org/drawingml/2006/main">
            <a:pPr algn="ctr">
              <a:defRPr sz="1125" b="1">
                <a:solidFill>
                  <a:srgbClr val="1E5E9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E5E99"/>
                </a:solidFill>
                <a:latin typeface="Calibri"/>
                <a:ea typeface="Calibri"/>
                <a:cs typeface="Calibri"/>
              </a:rPr>
              <a:t>bounded action history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6C0949-ECC4-4260-918E-ACA89978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57625"/>
            <a:ext cx="186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1906">
            <a:solidFill>
              <a:srgbClr val="7D8D9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B5E7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B5E70"/>
                </a:solidFill>
                <a:latin typeface="Calibri"/>
                <a:ea typeface="Calibri"/>
                <a:cs typeface="Calibri"/>
              </a:rPr>
              <a:t>LATEST-ONLY</a:t>
            </a:r>
          </a:p>
          <a:p xmlns:a="http://schemas.openxmlformats.org/drawingml/2006/main">
            <a:pPr algn="ctr">
              <a:defRPr sz="1125" b="1">
                <a:solidFill>
                  <a:srgbClr val="4B5E7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4B5E70"/>
                </a:solidFill>
                <a:latin typeface="Calibri"/>
                <a:ea typeface="Calibri"/>
                <a:cs typeface="Calibri"/>
              </a:rPr>
              <a:t>newest prediction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D9BA98-58CC-4E6D-AC33-89AFDC1D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148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CC9"/>
          </a:solidFill>
          <a:ln xmlns:a="http://schemas.openxmlformats.org/drawingml/2006/main" w="4763">
            <a:solidFill>
              <a:srgbClr val="AEBCC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4968D8-2ADF-4BFC-BA02-57BA78DF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43325"/>
            <a:ext cx="1352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5E7"/>
          </a:solidFill>
          <a:ln xmlns:a="http://schemas.openxmlformats.org/drawingml/2006/main" w="11906">
            <a:solidFill>
              <a:srgbClr val="D9912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5571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85571B"/>
                </a:solidFill>
                <a:latin typeface="Calibri"/>
                <a:ea typeface="Calibri"/>
                <a:cs typeface="Calibri"/>
              </a:rPr>
              <a:t>Success retention</a:t>
            </a:r>
          </a:p>
          <a:p xmlns:a="http://schemas.openxmlformats.org/drawingml/2006/main">
            <a:pPr algn="ctr">
              <a:defRPr sz="1050" b="1">
                <a:solidFill>
                  <a:srgbClr val="85571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85571B"/>
                </a:solidFill>
                <a:latin typeface="Calibri"/>
                <a:ea typeface="Calibri"/>
                <a:cs typeface="Calibri"/>
              </a:rPr>
              <a:t>Reacquisition latency</a:t>
            </a:r>
          </a:p>
          <a:p xmlns:a="http://schemas.openxmlformats.org/drawingml/2006/main">
            <a:pPr algn="ctr">
              <a:defRPr sz="1050" b="1">
                <a:solidFill>
                  <a:srgbClr val="85571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85571B"/>
                </a:solidFill>
                <a:latin typeface="Calibri"/>
                <a:ea typeface="Calibri"/>
                <a:cs typeface="Calibri"/>
              </a:rPr>
              <a:t>Failure category</a:t>
            </a:r>
          </a:p>
        </p:txBody>
      </p:sp>
    </p:spTree>
    <p:extLst>
      <p:ext uri="{BB962C8B-B14F-4D97-AF65-F5344CB8AC3E}">
        <p14:creationId xmlns:p14="http://schemas.microsoft.com/office/powerpoint/2010/main" val="1516916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2026-07-28T22:54:03.3710000Z</dcterms:created>
  <dcterms:modified xsi:type="dcterms:W3CDTF">2026-07-28T22:54:03.3710000Z</dcterms:modified>
</coreProperties>
</file>